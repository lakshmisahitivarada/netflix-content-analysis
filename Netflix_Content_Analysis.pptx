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Content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bubble3D val="0"/>
            <c:spPr>
              <a:solidFill>
                <a:srgbClr val="44444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Movies</c:v>
                </c:pt>
                <c:pt idx="1">
                  <c:v>TV Shows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6131</c:v>
                </c:pt>
                <c:pt idx="1">
                  <c:v>2676</c:v>
                </c:pt>
              </c:numCache>
            </c:numRef>
          </c:val>
        </c:ser>
        <c:firstSliceAng val="0"/>
        <c:holeSize val="55"/>
      </c:doughnutChart>
      <c:spPr>
        <a:solidFill>
          <a:srgbClr val="141414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 Added</c:v>
                </c:pt>
              </c:strCache>
            </c:strRef>
          </c:tx>
          <c:spPr>
            <a:solidFill>
              <a:srgbClr val="E50914"/>
            </a:solidFill>
            <a:ln w="38100" cap="flat">
              <a:solidFill>
                <a:srgbClr val="E5091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50914"/>
              </a:solidFill>
              <a:ln w="9525" cap="flat">
                <a:solidFill>
                  <a:srgbClr val="E5091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2008</c:v>
                  </c:pt>
                  <c:pt idx="1">
                    <c:v>2009</c:v>
                  </c:pt>
                  <c:pt idx="2">
                    <c:v>2010</c:v>
                  </c:pt>
                  <c:pt idx="3">
                    <c:v>2011</c:v>
                  </c:pt>
                  <c:pt idx="4">
                    <c:v>2012</c:v>
                  </c:pt>
                  <c:pt idx="5">
                    <c:v>2013</c:v>
                  </c:pt>
                  <c:pt idx="6">
                    <c:v>2014</c:v>
                  </c:pt>
                  <c:pt idx="7">
                    <c:v>2015</c:v>
                  </c:pt>
                  <c:pt idx="8">
                    <c:v>2016</c:v>
                  </c:pt>
                  <c:pt idx="9">
                    <c:v>2017</c:v>
                  </c:pt>
                  <c:pt idx="10">
                    <c:v>2018</c:v>
                  </c:pt>
                  <c:pt idx="11">
                    <c:v>2019</c:v>
                  </c:pt>
                  <c:pt idx="12">
                    <c:v>2020</c:v>
                  </c:pt>
                  <c:pt idx="13">
                    <c:v>2021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8</c:v>
                </c:pt>
                <c:pt idx="4">
                  <c:v>11</c:v>
                </c:pt>
                <c:pt idx="5">
                  <c:v>26</c:v>
                </c:pt>
                <c:pt idx="6">
                  <c:v>62</c:v>
                </c:pt>
                <c:pt idx="7">
                  <c:v>210</c:v>
                </c:pt>
                <c:pt idx="8">
                  <c:v>450</c:v>
                </c:pt>
                <c:pt idx="9">
                  <c:v>804</c:v>
                </c:pt>
                <c:pt idx="10">
                  <c:v>1147</c:v>
                </c:pt>
                <c:pt idx="11">
                  <c:v>1431</c:v>
                </c:pt>
                <c:pt idx="12">
                  <c:v>1240</c:v>
                </c:pt>
                <c:pt idx="13">
                  <c:v>863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414"/>
        </a:solidFill>
        <a:ln>
          <a:noFill/>
        </a:ln>
        <a:effectLst/>
      </c:spPr>
    </c:plotArea>
    <c:plotVisOnly val="1"/>
    <c:dispBlanksAs val="span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Spain</c:v>
                  </c:pt>
                  <c:pt idx="1">
                    <c:v>Canada</c:v>
                  </c:pt>
                  <c:pt idx="2">
                    <c:v>France</c:v>
                  </c:pt>
                  <c:pt idx="3">
                    <c:v>Japan</c:v>
                  </c:pt>
                  <c:pt idx="4">
                    <c:v>S. Korea</c:v>
                  </c:pt>
                  <c:pt idx="5">
                    <c:v>Australia</c:v>
                  </c:pt>
                  <c:pt idx="6">
                    <c:v>Mexico</c:v>
                  </c:pt>
                  <c:pt idx="7">
                    <c:v>UK</c:v>
                  </c:pt>
                  <c:pt idx="8">
                    <c:v>India</c:v>
                  </c:pt>
                  <c:pt idx="9">
                    <c:v>USA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145</c:v>
                </c:pt>
                <c:pt idx="1">
                  <c:v>181</c:v>
                </c:pt>
                <c:pt idx="2">
                  <c:v>193</c:v>
                </c:pt>
                <c:pt idx="3">
                  <c:v>245</c:v>
                </c:pt>
                <c:pt idx="4">
                  <c:v>199</c:v>
                </c:pt>
                <c:pt idx="5">
                  <c:v>126</c:v>
                </c:pt>
                <c:pt idx="6">
                  <c:v>159</c:v>
                </c:pt>
                <c:pt idx="7">
                  <c:v>419</c:v>
                </c:pt>
                <c:pt idx="8">
                  <c:v>972</c:v>
                </c:pt>
                <c:pt idx="9">
                  <c:v>2818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414"/>
        </a:solidFill>
        <a:ln>
          <a:noFill/>
        </a:ln>
        <a:effectLst/>
      </c:spPr>
    </c:plotArea>
    <c:plotVisOnly val="1"/>
    <c:dispBlanksAs val="span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Kids' TV</c:v>
                  </c:pt>
                  <c:pt idx="1">
                    <c:v>Dramas, Independent</c:v>
                  </c:pt>
                  <c:pt idx="2">
                    <c:v>Comedies, Dramas, Intl.</c:v>
                  </c:pt>
                  <c:pt idx="3">
                    <c:v>Stand-Up Comedy</c:v>
                  </c:pt>
                  <c:pt idx="4">
                    <c:v>Documentaries</c:v>
                  </c:pt>
                  <c:pt idx="5">
                    <c:v>Dramas, International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220</c:v>
                </c:pt>
                <c:pt idx="1">
                  <c:v>252</c:v>
                </c:pt>
                <c:pt idx="2">
                  <c:v>274</c:v>
                </c:pt>
                <c:pt idx="3">
                  <c:v>334</c:v>
                </c:pt>
                <c:pt idx="4">
                  <c:v>359</c:v>
                </c:pt>
                <c:pt idx="5">
                  <c:v>362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414"/>
        </a:solidFill>
        <a:ln>
          <a:noFill/>
        </a:ln>
        <a:effectLst/>
      </c:spPr>
    </c:plotArea>
    <c:plotVisOnly val="1"/>
    <c:dispBlanksAs val="span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PG</c:v>
                  </c:pt>
                  <c:pt idx="1">
                    <c:v>TV-Y</c:v>
                  </c:pt>
                  <c:pt idx="2">
                    <c:v>TV-Y7</c:v>
                  </c:pt>
                  <c:pt idx="3">
                    <c:v>PG-13</c:v>
                  </c:pt>
                  <c:pt idx="4">
                    <c:v>R</c:v>
                  </c:pt>
                  <c:pt idx="5">
                    <c:v>TV-PG</c:v>
                  </c:pt>
                  <c:pt idx="6">
                    <c:v>TV-14</c:v>
                  </c:pt>
                  <c:pt idx="7">
                    <c:v>TV-MA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287</c:v>
                </c:pt>
                <c:pt idx="1">
                  <c:v>307</c:v>
                </c:pt>
                <c:pt idx="2">
                  <c:v>334</c:v>
                </c:pt>
                <c:pt idx="3">
                  <c:v>490</c:v>
                </c:pt>
                <c:pt idx="4">
                  <c:v>799</c:v>
                </c:pt>
                <c:pt idx="5">
                  <c:v>863</c:v>
                </c:pt>
                <c:pt idx="6">
                  <c:v>2160</c:v>
                </c:pt>
                <c:pt idx="7">
                  <c:v>3207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414"/>
        </a:solidFill>
        <a:ln>
          <a:noFill/>
        </a:ln>
        <a:effectLst/>
      </c:spPr>
    </c:plotArea>
    <c:plotVisOnly val="1"/>
    <c:dispBlanksAs val="span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Shows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7+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1793</c:v>
                </c:pt>
                <c:pt idx="1">
                  <c:v>425</c:v>
                </c:pt>
                <c:pt idx="2">
                  <c:v>201</c:v>
                </c:pt>
                <c:pt idx="3">
                  <c:v>107</c:v>
                </c:pt>
                <c:pt idx="4">
                  <c:v>68</c:v>
                </c:pt>
                <c:pt idx="5">
                  <c:v>41</c:v>
                </c:pt>
                <c:pt idx="6">
                  <c:v>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414"/>
        </a:solidFill>
        <a:ln>
          <a:noFill/>
        </a:ln>
        <a:effectLst/>
      </c:spPr>
    </c:plotArea>
    <c:plotVisOnly val="1"/>
    <c:dispBlanksAs val="span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Movies</c:v>
                </c:pt>
              </c:strCache>
            </c:strRef>
          </c:tx>
          <c:spPr>
            <a:solidFill>
              <a:srgbClr val="44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&lt;60</c:v>
                  </c:pt>
                  <c:pt idx="1">
                    <c:v>60-80</c:v>
                  </c:pt>
                  <c:pt idx="2">
                    <c:v>80-100</c:v>
                  </c:pt>
                  <c:pt idx="3">
                    <c:v>100-120</c:v>
                  </c:pt>
                  <c:pt idx="4">
                    <c:v>120-140</c:v>
                  </c:pt>
                  <c:pt idx="5">
                    <c:v>140-160</c:v>
                  </c:pt>
                  <c:pt idx="6">
                    <c:v>&gt;160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198</c:v>
                </c:pt>
                <c:pt idx="1">
                  <c:v>412</c:v>
                </c:pt>
                <c:pt idx="2">
                  <c:v>1834</c:v>
                </c:pt>
                <c:pt idx="3">
                  <c:v>2011</c:v>
                </c:pt>
                <c:pt idx="4">
                  <c:v>1012</c:v>
                </c:pt>
                <c:pt idx="5">
                  <c:v>421</c:v>
                </c:pt>
                <c:pt idx="6">
                  <c:v>243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414"/>
        </a:solidFill>
        <a:ln>
          <a:noFill/>
        </a:ln>
        <a:effectLst/>
      </c:spPr>
    </c:plotArea>
    <c:plotVisOnly val="1"/>
    <c:dispBlanksAs val="span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Strategy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8,803 titles across Movies, TV Shows,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Genres, Countries &amp; Audience Ratings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Netflix Titles Dataset (Kaggle)  |  Tools: Python · 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from the Netflix content catalog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2C2C2C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9903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8,803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Titles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2344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2C2C2C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39903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6,131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37560" y="21031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2344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2C2C2C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2200" y="139903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2,676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72200" y="21031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Shows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2C2C2C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99923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4,529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02920" y="37033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0" y="2834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2C2C2C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299923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Yrs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337560" y="37033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Content Age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2834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2C2C2C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72200" y="299923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2021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172200" y="37033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Release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Movies vs TV Shows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822960"/>
          <a:ext cx="43891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120640" y="1280160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2C2C2C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257800" y="13716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69.6%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257800" y="1874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titles are Movies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120640" y="2651760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2C2C2C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257800" y="27432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30.4%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257800" y="3246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titles are TV Shows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120640" y="39319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dominate Netflix's catalog. While TV Shows represent only 30%, they typically drive stronger subscriber retention through multi-episode engagement.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 Growth Over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added to Netflix by year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84124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2019 — Netflix's global content investment at its highest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Countries by Content Volume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nations in Netflix catalog contribution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84124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 contributes ~32% of all content. Diversification into emerging markets is a key strategic opportunity.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Genres on Netflix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count after exploding multi-label field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84124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Dramas (especially International) and Documentaries top the catalog — reflecting Netflix's push for broad global appeal.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Audience Rating Distribution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Netflix's content made for?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280160"/>
            <a:ext cx="2834640" cy="1325880"/>
          </a:xfrm>
          <a:prstGeom prst="roundRect">
            <a:avLst>
              <a:gd name="adj" fmla="val 5517"/>
            </a:avLst>
          </a:prstGeom>
          <a:solidFill>
            <a:srgbClr val="2C2C2C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80760" y="1371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65%+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080760" y="193852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content is mature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(TV-MA, TV-14, R)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0" y="2926080"/>
            <a:ext cx="2834640" cy="1325880"/>
          </a:xfrm>
          <a:prstGeom prst="roundRect">
            <a:avLst>
              <a:gd name="adj" fmla="val 5517"/>
            </a:avLst>
          </a:prstGeom>
          <a:solidFill>
            <a:srgbClr val="2C2C2C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80760" y="3017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~11%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6080760" y="358444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family-friendly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(PG, TV-Y, TV-Y7)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42976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Grow family content to compete with Disney+ for household subscribers.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Format Deep Dive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Show Seasons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434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of TV Shows have only 1 season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Duration (minutes)</a:t>
            </a:r>
            <a:endParaRPr lang="en-US" sz="16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754880" y="1188720"/>
          <a:ext cx="4023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754880" y="4434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films run 80–120 mins — standard feature length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2C2C2C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9144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24128" y="9144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Movie-Heavy Catalog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69.6% of Netflix's titles are movies. TV Shows represent a smaller but strategically more impactful share due to retention effects.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82296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2C2C2C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9144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321808" y="9144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Explosive Growth After 2015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12801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additions surged following Netflix's 130-country launch in 2016, peaking in 2019 before a slight COVID-related dip.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2C2C2C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2402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24128" y="2240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Concentration Risk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6060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United States contributes ~32% of all content. Heavy dependency on one region is a strategic vulnerability.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14884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2C2C2C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22402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21808" y="2240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Adult-Oriented Platform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26060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65%+ of titles carry mature ratings (TV-MA, TV-14, R). Family and children's content is significantly underrepresented.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47472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2C2C2C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35661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24128" y="35661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Single-Season TV Dominance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39319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of TV Shows have only one season — signaling opportunity to invest in multi-season renewals for higher retention.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47472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2C2C2C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00600" y="35661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21808" y="35661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 Leads All Genres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0600" y="39319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Dramas and International Movies are the top genre category, affirming Netflix's global storytelling brand.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731520"/>
          </a:xfrm>
          <a:prstGeom prst="roundRect">
            <a:avLst>
              <a:gd name="adj" fmla="val 8750"/>
            </a:avLst>
          </a:prstGeom>
          <a:solidFill>
            <a:srgbClr val="2C2C2C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04672"/>
            <a:ext cx="502920" cy="731520"/>
          </a:xfrm>
          <a:prstGeom prst="roundRect">
            <a:avLst>
              <a:gd name="adj" fmla="val 12727"/>
            </a:avLst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926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87782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Diversification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content acquisition from South Korea, Southeast Asia, Latin America &amp; Africa to reduce US dependency and tap new audiences.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8412480" cy="731520"/>
          </a:xfrm>
          <a:prstGeom prst="roundRect">
            <a:avLst>
              <a:gd name="adj" fmla="val 8750"/>
            </a:avLst>
          </a:prstGeom>
          <a:solidFill>
            <a:srgbClr val="2C2C2C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45920"/>
            <a:ext cx="502920" cy="731520"/>
          </a:xfrm>
          <a:prstGeom prst="roundRect">
            <a:avLst>
              <a:gd name="adj" fmla="val 12727"/>
            </a:avLst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105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71907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Multi-Season Shows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02996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Fast-track renewal decisions for high-performing first seasons. Multi-season commitment is the single strongest lever for reducing subscriber churn.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487168"/>
            <a:ext cx="8412480" cy="731520"/>
          </a:xfrm>
          <a:prstGeom prst="roundRect">
            <a:avLst>
              <a:gd name="adj" fmla="val 8750"/>
            </a:avLst>
          </a:prstGeom>
          <a:solidFill>
            <a:srgbClr val="2C2C2C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487168"/>
            <a:ext cx="502920" cy="731520"/>
          </a:xfrm>
          <a:prstGeom prst="roundRect">
            <a:avLst>
              <a:gd name="adj" fmla="val 12727"/>
            </a:avLst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51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560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Family Content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871216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~11% family-rated content, Netflix can capture household subscribers and compete more directly with Disney+ and Apple TV+.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328416"/>
            <a:ext cx="8412480" cy="731520"/>
          </a:xfrm>
          <a:prstGeom prst="roundRect">
            <a:avLst>
              <a:gd name="adj" fmla="val 8750"/>
            </a:avLst>
          </a:prstGeom>
          <a:solidFill>
            <a:srgbClr val="2C2C2C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328416"/>
            <a:ext cx="502920" cy="731520"/>
          </a:xfrm>
          <a:prstGeom prst="roundRect">
            <a:avLst>
              <a:gd name="adj" fmla="val 12727"/>
            </a:avLst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930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4015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Release Timing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712464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major title launches with peak addition months (July, December, January) to maximize opening engagement and algorithmic visibility.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169664"/>
            <a:ext cx="8412480" cy="731520"/>
          </a:xfrm>
          <a:prstGeom prst="roundRect">
            <a:avLst>
              <a:gd name="adj" fmla="val 8750"/>
            </a:avLst>
          </a:prstGeom>
          <a:solidFill>
            <a:srgbClr val="2C2C2C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4169664"/>
            <a:ext cx="502920" cy="731520"/>
          </a:xfrm>
          <a:prstGeom prst="roundRect">
            <a:avLst>
              <a:gd name="adj" fmla="val 12727"/>
            </a:avLst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33425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424281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Drama &amp; Intl.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455371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 — especially international — leads all genre categories. Continued investment here strengthens Netflix's global storytelling brand identity.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8,803 Netflix titles reveals a movie-heavy, US-centric, adult-oriented catalog that saw explosive growth between 2015 and 2020.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 leads all genres, most TV Shows run only one season, and mature content dominates ratings. The data points clearly toward diversification — geographically, across content types, and into family audiences — as the highest-leverage opportunities for Netflix's next phase of growth.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42900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2C2C2C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3520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8,803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4069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Analyzed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342900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2C2C2C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3520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83280" y="4069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Answered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342900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2C2C2C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3520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217920" y="4069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· Pandas · Matplotlib · Seaborn · Power BI  |  Dataset: Kaggle Netflix Titles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Content Strategy Analysis</dc:title>
  <dc:subject>PptxGenJS Presentation</dc:subject>
  <dc:creator>Sahiti</dc:creator>
  <cp:lastModifiedBy>Sahiti</cp:lastModifiedBy>
  <cp:revision>1</cp:revision>
  <dcterms:created xsi:type="dcterms:W3CDTF">2026-06-14T17:20:23Z</dcterms:created>
  <dcterms:modified xsi:type="dcterms:W3CDTF">2026-06-14T17:20:23Z</dcterms:modified>
</cp:coreProperties>
</file>